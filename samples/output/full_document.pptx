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1-ci qrup	www.dim.gov.az	02.06.2024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77. Axtarış sistemlərində relevantlıq nədir?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A) İstifadə olunmuş açar sözlər, xülasələr və domenlərin ünvanlarından ibarət verilənlər bazasının avtomatik yaradılması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B) Bir-birinin ardınca gələn sözlərin tapılması üçün frazalardan istifadə edilməsi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6816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C) Axtarış sistemində yazılmış açar sözə uyğun olaraq istifadəçiyə oxşar açar sözlərin təklif edilməsi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2374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D) Açar sözlərə görə axtarış aparılaraq tapılan səhifələrin sistemə verilməsi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E) Tapılan informasiyanın axtarış meyarına uyğunluq dərəcəsi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5536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78. 5 şagird – Lalə, Orxan, Samirə, Gülçin, Elman məktəbdə keçirilən informatika fənni üzrə bilik yarışında I, II, III, IV, V yerləri tutdular. Məlumdur ki: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12464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– Orxan proqramlaşdırma üzrə yüksək səviyyədə biliyə sahib olduğu üçün birincilik onda oldu.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7939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– Gülçin və Elman sonuncu deyil.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90288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– Lalə Orxan qədər olmasa da, digər şagirdlərin içərisində ən yaxşı informatika biliyinə sahib olduğunu nümayiş etdirdi.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572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– Gülçin nəticəsinə görə Elmanı üstələdi.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6811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Elman neçənci yer tutmuşdur?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7900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A) IV          B) I          C) III          D) II          E)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79. Verilənlər bazasında (Marka = "Mercedes-Benz" OR Marka = "Toyota") AND (Rəng = "Qara" OR Rəng = "Yaşıl") sorğusuna hansı nömrəli yazılar cavab verəcək?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24128"/>
          <a:ext cx="82296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92608">
                <a:tc>
                  <a:txBody>
                    <a:bodyPr/>
                    <a:lstStyle/>
                    <a:p>
                      <a:r>
                        <a:rPr sz="120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Marka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Rəng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İl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Mercedes-Benz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2008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Nissan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Göy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2007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Yaşıl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2005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Hyundai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Gümüşü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2012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Honda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2007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6382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A) 1, 2, 6      B) 1, 2, 5      C) 1, 4      D) 2, 4      E) 1,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80. Alqoritmin blok-sxeminə əsasən n dəyişəninin çapa veriləcək qiymətinin 232 olması üçün, n-in ilkin qiymətini müəyyən edin.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16305" y="634701"/>
            <a:ext cx="1054249" cy="37651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000000"/>
                </a:solidFill>
              </a:rPr>
              <a:t>Başlanğıc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2641002" y="1688950"/>
            <a:ext cx="1204856" cy="376517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4" name="Rectangle 3"/>
          <p:cNvSpPr/>
          <p:nvPr/>
        </p:nvSpPr>
        <p:spPr>
          <a:xfrm>
            <a:off x="2641002" y="2743199"/>
            <a:ext cx="1204856" cy="3765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000000"/>
                </a:solidFill>
              </a:rPr>
              <a:t>a = 3</a:t>
            </a:r>
          </a:p>
        </p:txBody>
      </p:sp>
      <p:sp>
        <p:nvSpPr>
          <p:cNvPr id="5" name="Diamond 4"/>
          <p:cNvSpPr/>
          <p:nvPr/>
        </p:nvSpPr>
        <p:spPr>
          <a:xfrm>
            <a:off x="2565698" y="3646842"/>
            <a:ext cx="1355463" cy="677731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000000"/>
                </a:solidFill>
              </a:rPr>
              <a:t>a &lt; 164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833717" y="4851698"/>
            <a:ext cx="1204856" cy="376517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000000"/>
                </a:solidFill>
              </a:rPr>
              <a:t>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021" y="5905948"/>
            <a:ext cx="1054249" cy="37651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000000"/>
                </a:solidFill>
              </a:rPr>
              <a:t>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8287" y="4851698"/>
            <a:ext cx="1204856" cy="3765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000000"/>
                </a:solidFill>
              </a:rPr>
              <a:t>n = n - 8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8287" y="5905948"/>
            <a:ext cx="1204856" cy="3765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000000"/>
                </a:solidFill>
              </a:rPr>
              <a:t>a = a + 16</a:t>
            </a:r>
          </a:p>
        </p:txBody>
      </p:sp>
      <p:cxnSp>
        <p:nvCxnSpPr>
          <p:cNvPr id="10" name="Connector 9"/>
          <p:cNvCxnSpPr>
            <a:stCxn id="2" idx="2"/>
            <a:endCxn id="3" idx="0"/>
          </p:cNvCxnSpPr>
          <p:nvPr/>
        </p:nvCxnSpPr>
        <p:spPr>
          <a:xfrm>
            <a:off x="3243429" y="1011218"/>
            <a:ext cx="1" cy="677732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3" idx="2"/>
            <a:endCxn id="4" idx="0"/>
          </p:cNvCxnSpPr>
          <p:nvPr/>
        </p:nvCxnSpPr>
        <p:spPr>
          <a:xfrm flipH="1">
            <a:off x="3243430" y="2065467"/>
            <a:ext cx="0" cy="677732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4" idx="2"/>
            <a:endCxn id="5" idx="0"/>
          </p:cNvCxnSpPr>
          <p:nvPr/>
        </p:nvCxnSpPr>
        <p:spPr>
          <a:xfrm flipH="1">
            <a:off x="3243429" y="3119716"/>
            <a:ext cx="1" cy="527126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5" idx="1"/>
            <a:endCxn id="6" idx="0"/>
          </p:cNvCxnSpPr>
          <p:nvPr/>
        </p:nvCxnSpPr>
        <p:spPr>
          <a:xfrm flipH="1">
            <a:off x="1436145" y="3985707"/>
            <a:ext cx="1129553" cy="865991"/>
          </a:xfrm>
          <a:prstGeom prst="bentConnector3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39788" y="3804979"/>
            <a:ext cx="451821" cy="165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i="1"/>
              <a:t>Yox</a:t>
            </a:r>
          </a:p>
        </p:txBody>
      </p:sp>
      <p:cxnSp>
        <p:nvCxnSpPr>
          <p:cNvPr id="15" name="Connector 14"/>
          <p:cNvCxnSpPr>
            <a:stCxn id="6" idx="2"/>
            <a:endCxn id="7" idx="0"/>
          </p:cNvCxnSpPr>
          <p:nvPr/>
        </p:nvCxnSpPr>
        <p:spPr>
          <a:xfrm flipH="1">
            <a:off x="1436145" y="5228215"/>
            <a:ext cx="0" cy="67773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5" idx="3"/>
            <a:endCxn id="8" idx="0"/>
          </p:cNvCxnSpPr>
          <p:nvPr/>
        </p:nvCxnSpPr>
        <p:spPr>
          <a:xfrm>
            <a:off x="3921161" y="3985707"/>
            <a:ext cx="1129554" cy="865991"/>
          </a:xfrm>
          <a:prstGeom prst="bentConnector3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47072" y="3804979"/>
            <a:ext cx="451821" cy="165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i="1"/>
              <a:t>Hə</a:t>
            </a:r>
          </a:p>
        </p:txBody>
      </p:sp>
      <p:cxnSp>
        <p:nvCxnSpPr>
          <p:cNvPr id="18" name="Connector 17"/>
          <p:cNvCxnSpPr>
            <a:stCxn id="8" idx="2"/>
            <a:endCxn id="9" idx="0"/>
          </p:cNvCxnSpPr>
          <p:nvPr/>
        </p:nvCxnSpPr>
        <p:spPr>
          <a:xfrm flipH="1">
            <a:off x="5050715" y="5228215"/>
            <a:ext cx="0" cy="677733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9" idx="3"/>
            <a:endCxn id="5" idx="3"/>
          </p:cNvCxnSpPr>
          <p:nvPr/>
        </p:nvCxnSpPr>
        <p:spPr>
          <a:xfrm flipH="1" flipV="1">
            <a:off x="3921161" y="3985707"/>
            <a:ext cx="1731982" cy="2108499"/>
          </a:xfrm>
          <a:prstGeom prst="bentConnector3">
            <a:avLst>
              <a:gd name="adj1" fmla="val -21739"/>
            </a:avLst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A) 320        B) 147        C) 328        D) 312        E) 171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1-ci qrup	www.dim.gov.az	02.06.2024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81. </a:t>
            </a:r>
            <a:r>
              <a:rPr sz="1200"/>
              <a:t>41</a:t>
            </a:r>
            <a:r>
              <a:rPr sz="1200" baseline="-25000"/>
              <a:t>x</a:t>
            </a:r>
            <a:r>
              <a:rPr sz="1200"/>
              <a:t> + 36</a:t>
            </a:r>
            <a:r>
              <a:rPr sz="1200" baseline="-25000"/>
              <a:t>x</a:t>
            </a:r>
            <a:r>
              <a:rPr sz="1200"/>
              <a:t> = 77</a:t>
            </a:r>
            <a:r>
              <a:rPr sz="1200" baseline="-25000"/>
              <a:t>x</a:t>
            </a:r>
            <a:r>
              <a:rPr sz="1200"/>
              <a:t> ifadəsinin doğru olduğu ən kiçik əsaslı say sistemini müəyyən edərək, bu say sistemindəki ən böyük ikirəqəmli ədədi 2-lik say sistemində təsvir edin.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A) 110110            B) 1110001            C) 111011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6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D) 111111            E) 1001101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6771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82. Python dilində yazılmış proqramın icrası zamanı klaviaturadan n dəyişəni üçün 13 ədədi daxil edilərsə, nəticəni müəyyən edin.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n = int(input())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553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 = [1,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5643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i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6732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k = f[i] + f[i+1]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7822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while k &lt;= 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f.append(k)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000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i = i + 1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1091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k = f[i] + f[i + 1]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21807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print(sum(f))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32703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A) 20        B) 13        C) 33        D) 35        E) 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599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83. Python dilində yazılmış proqramın nəticəsini müəyyən edin.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a=34576721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b=str(a)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if len(b)%2==0: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c=b[len(b)//2-1]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0078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else: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c=b[len(b)//2]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257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k=int(c)*2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3347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print(k)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4436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84. ASCII kod cədvəlindən bir hissə verilmişdir: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255263"/>
          <a:ext cx="8229600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292608">
                <a:tc>
                  <a:txBody>
                    <a:bodyPr/>
                    <a:lstStyle/>
                    <a:p>
                      <a:r>
                        <a:rPr sz="1200"/>
                        <a:t>Simvol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z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Onluq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393192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“1” simvolunun onaltılıq kodunu müəyyən edin.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42816"/>
            <a:ext cx="822960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85. İnformatika üzrə olimpiadanın məktəb turundan yekun balı ən az 10 olan və ya 6 yaxud 7-ci tapşırıqdan maksimum bal yığan şagirdlər növbəti tura keçmiş sayılır. 1, 2, 3, 4-cü tapşırıqlar üçün maksimum bal 2-dir. 5 və 6-cı tapşırıqlar üçün maksimum bal 3-dür. 7-ci tapşırıq üçün isə maksimum bal 4-dür. Verilənlər bazası cədvəlinin fraqmentinə əsasən növbəti tura keçən oğlanların ballarının cəmini tapın.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r>
                        <a:rPr sz="1200"/>
                        <a:t>Adı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Cinsi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1-ci tapşırıq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2-ci tapşırıq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3-cü tapşırıq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4-cü tapşırıq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5-ci tapşırıq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6-cı tapşırıq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7-ci tapşırıq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Aydın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Samirə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Ömər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Elnarə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Sevil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Mehin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Yusif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Kamran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Fateh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347472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86. Alqoritmin blok-sxeminə əsasən a dəyişəninin çapa veriləcək qiymətinin 32 olması üçün n dəyişəninin daxil edilə biləcək ən kiçik natural qiymətinin rəqəmləri cəmini tapın.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4164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87. Uyğunluğu müəyyən edin.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352544"/>
          <a:ext cx="8229600" cy="1463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114800"/>
                <a:gridCol w="4114800"/>
              </a:tblGrid>
              <a:tr h="292608">
                <a:tc>
                  <a:txBody>
                    <a:bodyPr/>
                    <a:lstStyle/>
                    <a:p>
                      <a:r>
                        <a:rPr sz="1200"/>
                        <a:t>1. 65</a:t>
                      </a:r>
                      <a:r>
                        <a:rPr sz="1200" baseline="-25000"/>
                        <a:t>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a. 110011</a:t>
                      </a:r>
                      <a:r>
                        <a:rPr sz="1200" baseline="-25000"/>
                        <a:t>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2. 51</a:t>
                      </a:r>
                      <a:r>
                        <a:rPr sz="1200" baseline="-25000"/>
                        <a:t>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b. 33</a:t>
                      </a:r>
                      <a:r>
                        <a:rPr sz="1200" baseline="-25000"/>
                        <a:t>16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/>
                        <a:t>3. 27</a:t>
                      </a:r>
                      <a:r>
                        <a:rPr sz="1200" baseline="-25000"/>
                        <a:t>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c. 1B</a:t>
                      </a:r>
                      <a:r>
                        <a:rPr sz="1200" baseline="-25000"/>
                        <a:t>16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d. 33</a:t>
                      </a:r>
                      <a:r>
                        <a:rPr sz="1200" baseline="-25000"/>
                        <a:t>8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e. 101</a:t>
                      </a:r>
                      <a:r>
                        <a:rPr sz="1200" baseline="-25000"/>
                        <a:t>8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07024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Qeyd: bu sualın blok-sxemi orijinal PDF-də növbəti səhifənin (səh. 42) əvvəlində yerləşir.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